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dd9e4cf61e440f" /><Relationship Type="http://schemas.openxmlformats.org/officeDocument/2006/relationships/extended-properties" Target="/docProps/app.xml" Id="R4ea998297e494f7a" /><Relationship Type="http://schemas.openxmlformats.org/officeDocument/2006/relationships/officeDocument" Target="/ppt/presentation.xml" Id="Raec72577a62841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8e166ceb0b4874"/>
  </p:sldMasterIdLst>
  <p:notesMasterIdLst>
    <p:notesMasterId xmlns:r="http://schemas.openxmlformats.org/officeDocument/2006/relationships" r:id="R11157907e8174ffa"/>
  </p:notesMasterIdLst>
  <p:sldIdLst>
    <p:sldId xmlns:r="http://schemas.openxmlformats.org/officeDocument/2006/relationships" id="256" r:id="R6a3a484180064e91"/>
    <p:sldId xmlns:r="http://schemas.openxmlformats.org/officeDocument/2006/relationships" id="257" r:id="R379c3da7bd964e0b"/>
    <p:sldId xmlns:r="http://schemas.openxmlformats.org/officeDocument/2006/relationships" id="258" r:id="R9f5ebc37a1914b0b"/>
    <p:sldId xmlns:r="http://schemas.openxmlformats.org/officeDocument/2006/relationships" id="259" r:id="R3dd0ce40146743b4"/>
    <p:sldId xmlns:r="http://schemas.openxmlformats.org/officeDocument/2006/relationships" id="260" r:id="R190e4f4f1bad435c"/>
    <p:sldId xmlns:r="http://schemas.openxmlformats.org/officeDocument/2006/relationships" id="261" r:id="Rf562ebd5208b4fe0"/>
    <p:sldId xmlns:r="http://schemas.openxmlformats.org/officeDocument/2006/relationships" id="262" r:id="Racfcacc9d6aa4c7a"/>
    <p:sldId xmlns:r="http://schemas.openxmlformats.org/officeDocument/2006/relationships" id="263" r:id="R8cd35a76db9b48b7"/>
    <p:sldId xmlns:r="http://schemas.openxmlformats.org/officeDocument/2006/relationships" id="264" r:id="Rd173cea2cf5c44f1"/>
    <p:sldId xmlns:r="http://schemas.openxmlformats.org/officeDocument/2006/relationships" id="265" r:id="R6ba99560a8f042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755bb3ec334436" /><Relationship Type="http://schemas.openxmlformats.org/officeDocument/2006/relationships/slideMaster" Target="/ppt/slideMasters/slideMaster1.xml" Id="R678e166ceb0b4874" /><Relationship Type="http://schemas.openxmlformats.org/officeDocument/2006/relationships/notesMaster" Target="/ppt/notesMasters/notesMaster1.xml" Id="R11157907e8174ffa" /><Relationship Type="http://schemas.openxmlformats.org/officeDocument/2006/relationships/presProps" Target="/ppt/presProps.xml" Id="Rc9cdb08e379d4e2c" /><Relationship Type="http://schemas.openxmlformats.org/officeDocument/2006/relationships/tableStyles" Target="/ppt/tableStyles.xml" Id="R74b046bab6bc4fb9" /><Relationship Type="http://schemas.openxmlformats.org/officeDocument/2006/relationships/slide" Target="/ppt/slides/slide1.xml" Id="R6a3a484180064e91" /><Relationship Type="http://schemas.openxmlformats.org/officeDocument/2006/relationships/slide" Target="/ppt/slides/slide2.xml" Id="R379c3da7bd964e0b" /><Relationship Type="http://schemas.openxmlformats.org/officeDocument/2006/relationships/slide" Target="/ppt/slides/slide3.xml" Id="R9f5ebc37a1914b0b" /><Relationship Type="http://schemas.openxmlformats.org/officeDocument/2006/relationships/slide" Target="/ppt/slides/slide4.xml" Id="R3dd0ce40146743b4" /><Relationship Type="http://schemas.openxmlformats.org/officeDocument/2006/relationships/slide" Target="/ppt/slides/slide5.xml" Id="R190e4f4f1bad435c" /><Relationship Type="http://schemas.openxmlformats.org/officeDocument/2006/relationships/slide" Target="/ppt/slides/slide6.xml" Id="Rf562ebd5208b4fe0" /><Relationship Type="http://schemas.openxmlformats.org/officeDocument/2006/relationships/slide" Target="/ppt/slides/slide7.xml" Id="Racfcacc9d6aa4c7a" /><Relationship Type="http://schemas.openxmlformats.org/officeDocument/2006/relationships/slide" Target="/ppt/slides/slide8.xml" Id="R8cd35a76db9b48b7" /><Relationship Type="http://schemas.openxmlformats.org/officeDocument/2006/relationships/slide" Target="/ppt/slides/slide9.xml" Id="Rd173cea2cf5c44f1" /><Relationship Type="http://schemas.openxmlformats.org/officeDocument/2006/relationships/slide" Target="/ppt/slides/slide10.xml" Id="R6ba99560a8f042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92b4969d7043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8cad9335494e1a" /><Relationship Type="http://schemas.openxmlformats.org/officeDocument/2006/relationships/notesMaster" Target="/ppt/notesMasters/notesMaster1.xml" Id="R752f2f99d7dd4d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f56bac7c2f48bc" /><Relationship Type="http://schemas.openxmlformats.org/officeDocument/2006/relationships/notesMaster" Target="/ppt/notesMasters/notesMaster1.xml" Id="R01a8998ee52448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6747475c8e42e1" /><Relationship Type="http://schemas.openxmlformats.org/officeDocument/2006/relationships/notesMaster" Target="/ppt/notesMasters/notesMaster1.xml" Id="Rb5ec713fd03c41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09a95c7940493e" /><Relationship Type="http://schemas.openxmlformats.org/officeDocument/2006/relationships/notesMaster" Target="/ppt/notesMasters/notesMaster1.xml" Id="Ra44b19199b0641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82ebbaea4d47d0" /><Relationship Type="http://schemas.openxmlformats.org/officeDocument/2006/relationships/notesMaster" Target="/ppt/notesMasters/notesMaster1.xml" Id="Rfd2ac5bcba804e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cffaba5289406e" /><Relationship Type="http://schemas.openxmlformats.org/officeDocument/2006/relationships/notesMaster" Target="/ppt/notesMasters/notesMaster1.xml" Id="Rd16da6a20dfc46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0b381a49474ae6" /><Relationship Type="http://schemas.openxmlformats.org/officeDocument/2006/relationships/notesMaster" Target="/ppt/notesMasters/notesMaster1.xml" Id="Rb87d1ff9e4ae4e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faa93a0a494c91" /><Relationship Type="http://schemas.openxmlformats.org/officeDocument/2006/relationships/notesMaster" Target="/ppt/notesMasters/notesMaster1.xml" Id="Rca0306276d4b46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94057a035c4471" /><Relationship Type="http://schemas.openxmlformats.org/officeDocument/2006/relationships/notesMaster" Target="/ppt/notesMasters/notesMaster1.xml" Id="Rbcffdc60cea244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b4472c296a4b11" /><Relationship Type="http://schemas.openxmlformats.org/officeDocument/2006/relationships/notesMaster" Target="/ppt/notesMasters/notesMaster1.xml" Id="R366f7a9c829847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10분 구성은 사용자가 제시한 발표 양식(문제 1분, 아키텍처 2분, 라이브 데모 3분, 결과 2분, 한계·다음 2분)에 맞춤. 사진은 프로젝트 frontend/public/media/lab-pour-poster.jpg.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문제 정의는 사용자가 제공한 tok-talk 기획 설명을 요약. 실제 제품별 보관 위치와 연구실 운영 규칙은 공식 자료만으로 확정할 수 없다는 점을 다음 슬라이드에서 구분.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주 대상은 소규모 연구·개발 실험실. 사용자 제공 기획 문서의 문제 정의와 공식 자료 기반 RAG 범위를 바탕으로 작성.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compose.dev.yaml, frontend/src/stores/tokTalk.ts의 submitQuestion(), rag/app/api/rag.py, rag/app/services/rag.py, datapipeline/pipeline/pipeline.py. Vue /ask는 현재 /rag-query/auto를 직접 호출한다.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rag/app/services/rag.py의 INTENTS, _retrieve, answer. 구체적 안전정보는 실제 원문·제품별 MSDS 검증이 필요하다.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데모 URL은 로컬 개발 서버. 음성 기능은 ElevenLabs 키와 음성 ID 설정에 의존한다. 실험실 위치나 재고 등 공식 자료에 없는 현장 정보는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왼쪽은 사용자가 제공한 수정 전 캡처 파일 codex-clipboard-83f892e1-2851-41c1-86d3-c11712795ee5.png. 오른쪽은 수정 후 화면과 output/evaluation/toktalk_eval_set_20261026.md의 수동 평가를 요약한 편집 가능한 문구이며 수정 후 화면 캡처가 아니다. 0/3→3/3은 A01–A03 화면 사례의 두 요청 항목 포함 여부이지 정확도·근거성 전체 점수가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datapipeline/reports/chunking_before_after_20261026.md. 항목별 개수는 겹칠 수 있으므로 합산하지 않는다. 동일 BGE-M3, 동일 9개 질문에서 기대 항목 top-5 적중은 9/9→9/9. 색인 용량과 질의 지연은 미측정.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3건은 수동 화면 비교, 9건은 자동 검색 항목 평가. 한 변경의 단독 효과로 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output/evaluation/toktalk_eval_set_20261026.md. N01–N02는 미실행. KOSHA/NIOSH 공식 자료는 특정 제품과 연구실 자체 배치를 확정하지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a967c1a7445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1154d143df430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268e40cce46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fec272ee7441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a3035531c4a4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b0a3122d840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B8DE11-2B24-4A53-A6E8-80265A266D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F1280C-1457-4B4B-91B6-A5C4EC5E0B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D81B676-F751-444F-BA13-6B36610EB4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E03820-5D5E-44F1-AEB9-9E4D40DA5E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BC5E9E3-4A1B-4AB8-856D-A7AF4353C3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17F6B1-1DB9-47DC-8F95-C37F4E4A9D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8BF201-E2DF-426D-A546-1D91FCC406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9DDE18-7631-4937-8EED-69FDA91651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8890E0-87F2-443A-9441-84327EBEC9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3B7B0E-1C47-4726-82CE-38187E2D8C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a1fc2377114f41" /><Relationship Type="http://schemas.openxmlformats.org/officeDocument/2006/relationships/slideLayout" Target="/ppt/slideLayouts/slideLayout1.xml" Id="R5692d91a60ea4929" /><Relationship Type="http://schemas.openxmlformats.org/officeDocument/2006/relationships/slideLayout" Target="/ppt/slideLayouts/slideLayout2.xml" Id="R52b30c1d8a894a01" /><Relationship Type="http://schemas.openxmlformats.org/officeDocument/2006/relationships/slideLayout" Target="/ppt/slideLayouts/slideLayout3.xml" Id="Rc17524a0f24a4a46" /><Relationship Type="http://schemas.openxmlformats.org/officeDocument/2006/relationships/slideLayout" Target="/ppt/slideLayouts/slideLayout4.xml" Id="Ra5cc35647e324d7c" /><Relationship Type="http://schemas.openxmlformats.org/officeDocument/2006/relationships/slideLayout" Target="/ppt/slideLayouts/slideLayout5.xml" Id="R6c47a66ebb5242cb" /><Relationship Type="http://schemas.openxmlformats.org/officeDocument/2006/relationships/slideLayout" Target="/ppt/slideLayouts/slideLayout6.xml" Id="R6f9503e15bcb44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92d91a60ea4929"/>
    <p:sldLayoutId xmlns:r="http://schemas.openxmlformats.org/officeDocument/2006/relationships" id="2147483650" r:id="R52b30c1d8a894a01"/>
    <p:sldLayoutId xmlns:r="http://schemas.openxmlformats.org/officeDocument/2006/relationships" id="2147483651" r:id="Rc17524a0f24a4a46"/>
    <p:sldLayoutId xmlns:r="http://schemas.openxmlformats.org/officeDocument/2006/relationships" id="2147483652" r:id="Ra5cc35647e324d7c"/>
    <p:sldLayoutId xmlns:r="http://schemas.openxmlformats.org/officeDocument/2006/relationships" id="2147483653" r:id="R6c47a66ebb5242cb"/>
    <p:sldLayoutId xmlns:r="http://schemas.openxmlformats.org/officeDocument/2006/relationships" id="2147483654" r:id="R6f9503e15bcb44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7f438255534a72" /><Relationship Type="http://schemas.openxmlformats.org/officeDocument/2006/relationships/image" Target="/ppt/media/image.jpeg" Id="R03168b9e86c24fb0" /><Relationship Type="http://schemas.openxmlformats.org/officeDocument/2006/relationships/notesSlide" Target="/ppt/notesSlides/notesSlide1.xml" Id="R42e629ab651a48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c9d8e327f54b23" /><Relationship Type="http://schemas.openxmlformats.org/officeDocument/2006/relationships/notesSlide" Target="/ppt/notesSlides/notesSlide2.xml" Id="R1b717468d4d94a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98cc6f3dee481f" /><Relationship Type="http://schemas.openxmlformats.org/officeDocument/2006/relationships/notesSlide" Target="/ppt/notesSlides/notesSlide3.xml" Id="R9d73321c434045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09db14d7e443c9" /><Relationship Type="http://schemas.openxmlformats.org/officeDocument/2006/relationships/notesSlide" Target="/ppt/notesSlides/notesSlide4.xml" Id="R4272a69ddabe4d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065ab994b49dd" /><Relationship Type="http://schemas.openxmlformats.org/officeDocument/2006/relationships/notesSlide" Target="/ppt/notesSlides/notesSlide5.xml" Id="R7be7c0a78bd84a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8ee097df3745b5" /><Relationship Type="http://schemas.openxmlformats.org/officeDocument/2006/relationships/notesSlide" Target="/ppt/notesSlides/notesSlide6.xml" Id="R604294f59f3046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49331bcc4b46b4" /><Relationship Type="http://schemas.openxmlformats.org/officeDocument/2006/relationships/image" Target="/ppt/media/image.png" Id="Rb658d86bfb8f4d73" /><Relationship Type="http://schemas.openxmlformats.org/officeDocument/2006/relationships/notesSlide" Target="/ppt/notesSlides/notesSlide7.xml" Id="R557db0b4fb934c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d680b853f4bef" /><Relationship Type="http://schemas.openxmlformats.org/officeDocument/2006/relationships/notesSlide" Target="/ppt/notesSlides/notesSlide8.xml" Id="R0d79e56be1a94b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28cdcddcad4193" /><Relationship Type="http://schemas.openxmlformats.org/officeDocument/2006/relationships/notesSlide" Target="/ppt/notesSlides/notesSlide9.xml" Id="R0dd07e6b1f884e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f449a2415e465f" /><Relationship Type="http://schemas.openxmlformats.org/officeDocument/2006/relationships/notesSlide" Target="/ppt/notesSlides/notesSlide10.xml" Id="Re8fb32b41c614d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41542-C0FC-4346-A4BA-039D606C1B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68b9e86c24fb0"/>
          <a:srcRect xmlns:a="http://schemas.openxmlformats.org/drawingml/2006/main" l="26406" t="0" r="264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8900" y="0"/>
            <a:ext cx="57531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D1DAE9-3688-4B84-932C-E6CB87B7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27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8CB7B-F9EA-4A65-A598-F5E61B01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5524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실험 순간에 필요한</a:t>
            </a:r>
          </a:p>
          <a:p xmlns:a="http://schemas.openxmlformats.org/drawingml/2006/main">
            <a:pPr algn="l">
              <a:def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4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화학물질 안전정보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AEA32-A35E-4F53-8214-356878B0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62375"/>
            <a:ext cx="538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0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질문을 공식 자료의 근거와 연결하다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15249-0666-45EF-BDCF-5844932A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5105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D0E30-DE46-4C18-90C2-B52CBCA2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문제 1분  ·  아키텍처 2분  ·  라이브 데모 3분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47AA5-9EA4-4FC7-AC82-036C88DC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24475"/>
            <a:ext cx="5381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결과 2분  ·  한계와 다음 단계 2분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F441C-D014-44E1-A22C-D58C5035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6745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12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AI 서비스 개발 Mini-project  |  2026.10.26</a:t>
            </a:r>
          </a:p>
        </p:txBody>
      </p:sp>
    </p:spTree>
    <p:extLst>
      <p:ext uri="{BB962C8B-B14F-4D97-AF65-F5344CB8AC3E}">
        <p14:creationId xmlns:p14="http://schemas.microsoft.com/office/powerpoint/2010/main" val="1410449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CE415-9749-476B-BB9E-B82D473F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· 1분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5F1F6-4D9B-40B1-B947-445D953A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시약을 쓰고 다시 보관할 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F11D3-E398-4EDB-8F03-CDE8AEBA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77ABA-8008-4570-B32D-1F663E04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44C5FE-AC45-49C1-950B-19FFB75A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연구실에서는 물질명을 아는 것만으로 안전하게 반납하기 어렵습니다.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3F7D1-F7AD-4EB3-A6A1-0A07378E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1CB5C-8056-47EC-8C8B-7F66F87F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냉장고별 온도와 인화성 물질의 분리 보관 조건을 다시 확인해야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3966D-68B7-4662-9E90-A5109EBA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7F023-C936-4EFE-80BD-5E317F35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취급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5BBEA-196B-4693-88D4-A46E3A26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고체·액체·용액 상태에 따라 보호구와 환기 조건이 달라집니다.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ED3B2-3F2B-4E26-9D2F-87A59C30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24AF3-0D52-46CD-A9D4-D475021D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폐기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354FC-7EAB-4D1A-AE0C-93F856C1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7434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산·염기·유기용매 폐액을 혼합하지 않도록 분류해야 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69595-9998-4866-AE03-F5B811A4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40DD9C-3A43-4995-88B3-DFCA7BC9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필요한 정보는 길게 작성된 SDS의 여러 항목에 흩어져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62489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E4061-49CA-4C66-882E-8C16C828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문제 → 해결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6C7DB-6A72-44E3-A0D7-54D49B90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문서 제목보다 상황을 먼저 묻습니다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976DB-17B3-4542-AEF3-96F8701B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CA9B2-CC00-4B4C-B403-AD3F0E99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9A47E-67E7-444C-B80E-2E75A090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“아세톤은 어떻게 보관하나요?”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107ED-6159-46D4-A565-4841A45C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07435-B917-4A7F-8847-20F204FA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“메탄올이 눈에 닿으면 어떻게 해야 하나요?”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D2714-ABE0-4D35-B9DE-CDC61A0E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B380F-F7C7-43AD-8D57-178DA756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572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6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“톨루엔 노출을 줄이려면?”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B95F8-0AC1-4FCB-84A7-412AA313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KOSHA MSDS와 NIOSH 자료에서 관련 항목을 찾아 한국어 답변과 출처를 제공합니다.</a:t>
            </a:r>
          </a:p>
        </p:txBody>
      </p:sp>
    </p:spTree>
    <p:extLst>
      <p:ext uri="{BB962C8B-B14F-4D97-AF65-F5344CB8AC3E}">
        <p14:creationId xmlns:p14="http://schemas.microsoft.com/office/powerpoint/2010/main" val="20680485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E1812D-8034-418F-A3F1-AEA69A5C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아키텍처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A94B7-CC6E-42AF-9386-A0CCF0DD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공식 자료에서 Vue 답변까지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CAD27-FC91-4191-A3D6-18B803B4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281BD-FC54-405F-868A-14E1F335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3E6BE-B5AC-40F2-BF6C-BEBA4FFA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016419-1609-4D48-AF97-C4B65325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1C317-933E-4670-8B97-9BE00DB7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DC320-FCA6-486F-8A33-5C666B0D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KOSHA API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NIOSH 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A8EC8-54AB-4369-81E3-835DECC9A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D0D73-65B4-45A0-B732-E630CA88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F955D1-A131-4F54-8725-AB563929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청킹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00249-43E1-4236-8C26-8054E2E9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빈 항목 제외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CAS·출처 유지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8A4A6-C602-4017-BC7C-8CF66189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C8CD6-AFA9-4733-A29B-9DE5D82F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0D7D3-5E61-4D1F-B4A4-C3627494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색인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607F8-A381-49A5-A8ED-BC6763C5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BGE-M3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FAISS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E859D-ED92-4CC2-A125-9BC4DE6C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6C655-7D84-487B-95CA-3E555970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BDF8E-AA25-402B-82AB-0A23E1E0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RAG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EE353-5075-42EB-8947-A5CCBEA7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의도별 검색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LLM 근거 답변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42C1E7-3BED-44CB-881E-EB447274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43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38E213-70B8-413D-B222-C03A3DE2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62225"/>
            <a:ext cx="2047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15157-1AA6-4447-984C-A4DEC7FA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003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2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D24E9F-5480-4A0A-81DA-1FFB9EF2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29000"/>
            <a:ext cx="2047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Vue /ask</a:t>
            </a:r>
          </a:p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출처·음성 재생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135FC7-0FA1-4CAF-852D-5550AE3B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8A6943-E851-44DB-AF6F-4DFBF1AB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인증: Java 백엔드가 JWT 발급  ·  RAG API가 토큰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21608B-166B-440E-B7C4-1B123DAA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색인 갱신: 원천 데이터 변경 시 재생성</a:t>
            </a:r>
          </a:p>
        </p:txBody>
      </p:sp>
    </p:spTree>
    <p:extLst>
      <p:ext uri="{BB962C8B-B14F-4D97-AF65-F5344CB8AC3E}">
        <p14:creationId xmlns:p14="http://schemas.microsoft.com/office/powerpoint/2010/main" val="17122411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2CE02-EE3A-4046-B9EF-DA5392D0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아키텍처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25923-0325-47C5-845A-4304EE3D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질문은 요청 항목별로 검색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3C8DE-AC83-4D5E-A3DB-3A219C2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2A5BC-D469-4C34-8A1C-890CB36D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B4FF5E-FBF6-4658-A9F6-88BAF28D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3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질문: “아세톤의 노출 경로와 안전한 보관 방법은?”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DC1097-F12E-4646-9447-F50EAD23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637FB-BFE9-4A0D-93CF-FB05D911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노출 경로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3C9F4-496E-4553-A33C-9A72850F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0512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NIOSH 노출 경로 + 약어표에서 흡입·섭취·피부/눈 접촉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37DA4E-6EDB-45BB-971C-5147B7AE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942F7-EC35-4771-AD5B-C9577BFD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9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보관 방법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77541-07CD-43C6-B89F-46BA4D6D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67175"/>
            <a:ext cx="828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KOSHA 취급 및 저장방법에서 환기·밀폐·점화원 조건 확인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90E6A-0440-4188-A429-02FF409D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83A27F-FCA4-41AC-842E-71BF5CCE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두 근거를 함께 제공 → 인용 번호 검사 → 답변·출처 표시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FFCEB-D34A-4F5B-9133-205E3A04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요청 항목의 근거가 없으면 담당자 확인 안내</a:t>
            </a:r>
          </a:p>
        </p:txBody>
      </p:sp>
    </p:spTree>
    <p:extLst>
      <p:ext uri="{BB962C8B-B14F-4D97-AF65-F5344CB8AC3E}">
        <p14:creationId xmlns:p14="http://schemas.microsoft.com/office/powerpoint/2010/main" val="5794325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F7868-3648-42B8-93B1-7885E96D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라이브 데모 · 3분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F13A12-BC18-4289-8788-BA63DA8A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정상 질문과 예외를 한 흐름에서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434B3-D554-4F6B-A1B3-8F389565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A7187B-5600-4CE1-BB89-5969FF66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D6CBE-112B-4E24-86BA-FCE3CF02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504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localhost:5174 /ask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1A58E-30B7-4661-9049-5A20B49C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01  로그인 후 질문 입력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7886A-E4C3-4FDF-A8A9-6A783F8E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962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아세톤의 노출 경로와 안전한 보관 방법은?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05B6E-D669-45AA-893B-377BA87E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12DAE-72F9-4E24-BD10-482B7231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02  답변·출처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44C95-7293-49FD-A65B-1C7BADE2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33875"/>
            <a:ext cx="971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두 항목이 모두 있는지, 출처의 CAS와 섹션이 맞는지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4DAE9-EA1C-4E72-943E-26563BB6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3A7E8-B6FE-4B6D-ABD1-9F95D3CA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75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03  오탈자·음성 기능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5A0D3-339C-4D95-810F-547A268B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48325"/>
            <a:ext cx="9810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“이세톤 보관 방법” → 표준 물질명 확인  /  답변 듣기</a:t>
            </a:r>
          </a:p>
        </p:txBody>
      </p:sp>
    </p:spTree>
    <p:extLst>
      <p:ext uri="{BB962C8B-B14F-4D97-AF65-F5344CB8AC3E}">
        <p14:creationId xmlns:p14="http://schemas.microsoft.com/office/powerpoint/2010/main" val="15710418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75CF81-F4AA-4CE8-A105-5743D5EB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B164F-040C-4497-B8E0-CEC7B8A8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질문에서 빠지던 항목을 보완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33F56-5BFC-4119-B042-B6587A8D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B414A-F291-4654-ACAF-1CE224C1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1CA19-A392-49D9-9B0E-7501A728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화면 비교 3건  ·  요청한 두 항목 충족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E0182-D426-445E-9BFB-571E651F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3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0/3  →  3/3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ABFB9-F916-4F8A-A8C2-9C0670D5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4B2D1-E2BA-43AC-9521-BF8367BB51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8d86bfb8f4d73"/>
          <a:srcRect xmlns:a="http://schemas.openxmlformats.org/drawingml/2006/main" l="0" t="18000" r="32000" b="35000"/>
          <a:stretch xmlns:a="http://schemas.openxmlformats.org/drawingml/2006/main"/>
        </p:blipFill>
        <p:spPr>
          <a:xfrm xmlns:a="http://schemas.openxmlformats.org/drawingml/2006/main">
            <a:off x="609600" y="3238500"/>
            <a:ext cx="5572125" cy="25050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1A429-C6CA-4E09-BBA7-C0EF56BA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24225"/>
            <a:ext cx="490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 화면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CBE2A-8DF9-419D-AFF4-3AAED566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952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1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1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1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1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1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1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1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1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1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아세톤 노출 경로에서</a:t>
            </a:r>
          </a:p>
          <a:p xmlns:a="http://schemas.openxmlformats.org/drawingml/2006/main">
            <a:pPr algn="l">
              <a:defRPr sz="21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1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흡입만 답하고 다른 경로가 빠짐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130FA-44B4-4340-AFD1-7D20D241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 후 점검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67961-E3D3-4DB8-9C06-D4134A4B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81625"/>
            <a:ext cx="4857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20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20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20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20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20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20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20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20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20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흡입·섭취·피부/눈 접촉과</a:t>
            </a:r>
          </a:p>
          <a:p xmlns:a="http://schemas.openxmlformats.org/drawingml/2006/main">
            <a:pPr algn="l">
              <a:defRPr sz="20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20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보관 조건을 함께 언급</a:t>
            </a:r>
          </a:p>
        </p:txBody>
      </p:sp>
    </p:spTree>
    <p:extLst>
      <p:ext uri="{BB962C8B-B14F-4D97-AF65-F5344CB8AC3E}">
        <p14:creationId xmlns:p14="http://schemas.microsoft.com/office/powerpoint/2010/main" val="4410974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7E87B-D720-4AFF-BB4A-E6634633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결과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9A10B-49D1-4158-8A8E-45916082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적중을 유지하며 색인 잡음을 제거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9E245-8BAB-4BEE-9568-57D503D8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61E25-C4A4-4549-8978-A54EE4FA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5091B-7643-4863-95AD-B8281232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4286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전체 청크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91A03-5303-4C86-A631-A46689FF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381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4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715  →  553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803A9-FDD9-4D72-A470-ACC4AA05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72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162개 감소  ·  약 22.7%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9F532D-E914-46CB-A6F4-DE816187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79EAD-9472-492D-8679-C14EB389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557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6CCBE1-E91E-4542-A660-A90D3B21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CB6A7-1D4A-4B71-A89C-FDE20EAA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33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수정 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950023-38CF-48B1-A676-3BB7D83C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 청크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A97054-3BB8-4526-B75B-2548CB92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D1F73-41BD-4FB9-9F3D-769FEE79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529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06E06-ECD6-456F-9E70-837462BF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8CD226-88A4-4533-9E8A-3B3EB1E1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본문 없는 머리글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0BAAD-F7F3-44E5-A170-951CFD9C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66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558776-8056-498C-A744-065FB396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038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4BCB9-5034-4A3D-97C9-19D43CCB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F5CE14-EBE1-429A-A465-AEF1D5F6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CAS 없는 청크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FE8B16-351A-4447-A112-B830BC95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152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34F261-F576-4374-AA49-2901E6D1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24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6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9399A-0944-463B-88D9-B8371B9C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38738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813E8C-50B6-442B-B941-5B6F4EC2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평가·개선 루프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A8387-BCD5-4E84-B164-F261976B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원인 단계를 바꾸고 같은 질문으로 재평가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AF500F-24AF-495F-9ECD-755CA1E0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652CA-208B-48DD-9653-51C0093D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928EB-72D2-4C6C-81B4-A5CDA828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관찰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595A6-04A3-4CB6-990E-C9DFDAC7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85975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수정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262F8-00F4-436D-8739-7AFBF918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8597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425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재평가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8F106-6DF3-4EFC-8F33-4F891483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8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EB58E-EB7D-4C22-BEE8-3AF81A10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검색 누락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E98C39-A0B7-4DFB-A0CD-AAAD5CF1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의도 분해·섹션별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C37BAB-979E-4C57-BA64-A77E54D6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241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화면 3건 두 항목 포함 0/3→3/3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BF694C-DE8F-4832-98CE-D6F8957D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15105-1896-4E64-9BE1-E6188AB6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빈 근거 혼입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04552-7281-4778-BC0C-12381227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4810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자료 없음·머리글 청크 제외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1CABB-7F8F-4A13-A219-08BEEAC2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4810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107→0 / 66→0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79A35A-3EE7-4E2D-B111-95C74724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60248-2B40-4997-9358-92487E57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38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청킹 부작용 우려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6B285-D657-4CEF-A9FB-7DD4DCD1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같은 임베딩·CAS·top-5로 비교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FF357C-2AB9-490F-A386-F8095F34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72050"/>
            <a:ext cx="338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기대 항목 9/9→9/9 유지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D5D39B-E703-4DE6-BC15-1F47522D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AF5A9D-74A0-4D9C-8101-1B70CFAF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1575" b="0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검색 적중, 두 항목 포함, 답변 정확성은 서로 다른 지표입니다.</a:t>
            </a:r>
          </a:p>
        </p:txBody>
      </p:sp>
    </p:spTree>
    <p:extLst>
      <p:ext uri="{BB962C8B-B14F-4D97-AF65-F5344CB8AC3E}">
        <p14:creationId xmlns:p14="http://schemas.microsoft.com/office/powerpoint/2010/main" val="830274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2FA0AA-39C2-4E35-8207-42806CE7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05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TOK,TALK  /  한계·다음 · 2분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2EF6C-EA19-40EE-BF1D-039E724E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다음 검증에서 확인할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39B18-D80F-41A5-A364-E427D3CA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C3C6A-0878-46CC-BB11-4AF62620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48425"/>
            <a:ext cx="723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defPPr>
            <a:lvl1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1pPr>
            <a:lvl2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2pPr>
            <a:lvl3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3pPr>
            <a:lvl4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4pPr>
            <a:lvl5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5pPr>
            <a:lvl6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6pPr>
            <a:lvl7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7pPr>
            <a:lvl8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8pPr>
            <a:lvl9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defRPr>
            </a:pPr>
            <a:r>
              <a:rPr sz="975" b="1">
                <a:solidFill>
                  <a:srgbClr val="78817A"/>
                </a:solidFill>
                <a:latin typeface="Nanum Gothic"/>
                <a:ea typeface="Nanum Gothic"/>
                <a:cs typeface="Nanum Gothic"/>
              </a:rPr>
              <a:t>10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138FE-2D9B-4304-B8EF-12509D4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현재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E9A67-5BC9-4999-BD33-8D35F090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050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선정 물질 5종의 공식 자료를 검색하고 출처와 함께 답변합니다.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96841-62CA-4458-B4ED-0F58D4F7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8F48E-A86E-47FD-B890-B2C72073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미측정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3F6EE-4DFC-4F70-A20C-177F7F84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099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문장별 정확성·근거성·환각률, 지연시간·비용은 아직 점수화하지 않았습니다.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09105-F952-419A-AA80-A1AD85AA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38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B33FB-D127-4C33-AF58-AD9BC4CC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5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다음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6208D-4C05-4410-8C44-D00F3CB5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14825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defRPr>
            </a:pPr>
            <a:r>
              <a:rPr sz="1875" b="0">
                <a:solidFill>
                  <a:srgbClr val="172B25"/>
                </a:solidFill>
                <a:latin typeface="Nanum Gothic"/>
                <a:ea typeface="Nanum Gothic"/>
                <a:cs typeface="Nanum Gothic"/>
              </a:rPr>
              <a:t>복합 질문 5건을 원문과 대조하고, 자료에 없는 현장 질문 2건의 보류 응답을 시험합니다.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0AC67-AF2B-45F9-9FBE-774D39CC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8BC54-7A79-4740-B2F3-2544D6E6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defPPr>
            <a:lvl1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1pPr>
            <a:lvl2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2pPr>
            <a:lvl3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3pPr>
            <a:lvl4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4pPr>
            <a:lvl5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5pPr>
            <a:lvl6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6pPr>
            <a:lvl7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7pPr>
            <a:lvl8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8pPr>
            <a:lvl9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defRPr>
            </a:pPr>
            <a:r>
              <a:rPr sz="1800" b="1">
                <a:solidFill>
                  <a:srgbClr val="17684F"/>
                </a:solidFill>
                <a:latin typeface="Nanum Gothic"/>
                <a:ea typeface="Nanum Gothic"/>
                <a:cs typeface="Nanum Gothic"/>
              </a:rPr>
              <a:t>실제 취급·보관 결정은 제품별 MSDS와 연구실 안전 담당자의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1153197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2026-10-26T05:00:10.7630000Z</dcterms:created>
  <dcterms:modified xsi:type="dcterms:W3CDTF">2026-10-26T05:00:10.7630000Z</dcterms:modified>
</coreProperties>
</file>